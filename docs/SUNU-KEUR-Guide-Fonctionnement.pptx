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18607" y="1051560"/>
            <a:ext cx="1554480" cy="15544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5592927" y="1371600"/>
            <a:ext cx="1005840" cy="502920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28919" y="184708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59E0B"/>
                </a:solidFill>
                <a:latin typeface="Georgia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14135" y="184708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288036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F59E0B"/>
                </a:solidFill>
                <a:latin typeface="Georgia"/>
              </a:rPr>
              <a:t>SUNU KEUR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3584448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0B981"/>
                </a:solidFill>
                <a:latin typeface="Segoe UI"/>
              </a:rPr>
              <a:t>G E S T I O N   L O C A T I V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0690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1">
                <a:solidFill>
                  <a:srgbClr val="FFFFFF"/>
                </a:solidFill>
                <a:latin typeface="Georgia"/>
              </a:rPr>
              <a:t>« Fini le cahier. Tes loyers en un coup d'œil.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8407" y="4709160"/>
            <a:ext cx="475488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4828032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GUIDE DE FONCTIONNEMENT DE L'APPLICATION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102352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CBD5E1"/>
                </a:solidFill>
                <a:latin typeface="Segoe UI"/>
              </a:rPr>
              <a:t>Architecture · Rôles · Parcours · Documents · Paiements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598932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10B981"/>
                </a:solidFill>
                <a:latin typeface="Segoe UI"/>
              </a:rPr>
              <a:t>https://sunu-keur-web.onrender.com   ·   https://sunu-keur-api.onrender.com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263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Édition octobre 2026 · Next.js 14 · FastAPI · Render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Le problème, la réponse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pourquoi Sunu Keur existe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5455767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5455767" cy="56692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53312"/>
            <a:ext cx="54557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LE PROBLÈME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011680"/>
            <a:ext cx="91440" cy="777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01168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Le cahier du gérant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267712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suivi manuel des loyers : oublis, litiges, aucun historique exploitable.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999232"/>
            <a:ext cx="91440" cy="777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999232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La diaspora sans regard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255264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le propriétaire de Paris ne sait pas si son immeuble à Dakar paie.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986784"/>
            <a:ext cx="91440" cy="777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986784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Des relances pénibles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42816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messages WhatsApp écrits à la main, quittances illisibles ou inexistantes.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974336"/>
            <a:ext cx="91440" cy="777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74336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Les impayés qui s'accumulent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230368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personne ne sait combien manque, depuis quand, et pour qui.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1234440"/>
            <a:ext cx="5455767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1234440"/>
            <a:ext cx="5455767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3007" y="1353312"/>
            <a:ext cx="54557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LA SOLUTION SUNU KEUR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1607" y="2011680"/>
            <a:ext cx="91440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0207" y="201168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Un tableau de bord, pas un cahier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0207" y="2267712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encaissé, retards et taux de recouvrement à l'ouverture.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1607" y="2999232"/>
            <a:ext cx="91440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0207" y="2999232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Le propriétaire connecté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3255264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portail en lecture seule : rapports et quittances, sans modifier.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1607" y="3986784"/>
            <a:ext cx="91440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0207" y="3986784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Relances en un clic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0207" y="4242816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message poli pré-rempli, ouvert directement dans WhatsApp.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61607" y="4974336"/>
            <a:ext cx="91440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974336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Documents officiels réels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5230368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factures, devis et quittances PDF générés par Python, QR à l'appui.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0080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F172A"/>
                </a:solidFill>
                <a:latin typeface="Segoe UI"/>
              </a:rPr>
              <a:t>Cible : gérants d'immeubles à Dakar, Thiès, Saint-Louis — et les propriétaires qui les emploient, souvent à l'étranger.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Architecture technique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deux services, une API, deux modes de données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11680"/>
            <a:ext cx="1554480" cy="822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128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Utilisateurs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8716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CBD5E1"/>
                </a:solidFill>
                <a:latin typeface="Segoe UI"/>
              </a:rPr>
              <a:t>web · mobile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103120" y="2286000"/>
            <a:ext cx="502920" cy="274320"/>
          </a:xfrm>
          <a:prstGeom prst="right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51760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1760" y="1737360"/>
            <a:ext cx="274320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Frontend Next.js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23113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React · Tailwind · Framer Motion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0B981"/>
                </a:solidFill>
                <a:latin typeface="Segoe UI"/>
              </a:rPr>
              <a:t>sunu-keur-web.onrender.com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2240280"/>
            <a:ext cx="685800" cy="27432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1965960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64748B"/>
                </a:solidFill>
                <a:latin typeface="Segoe UI"/>
              </a:rPr>
              <a:t>JSON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144768" y="2514600"/>
            <a:ext cx="-658368" cy="274320"/>
          </a:xfrm>
          <a:prstGeom prst="right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72200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1737360"/>
            <a:ext cx="274320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API FastAPI (Python)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23113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routes REST · validation · RBAC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97316"/>
                </a:solidFill>
                <a:latin typeface="Segoe UI"/>
              </a:rPr>
              <a:t>sunu-keur-api.onrender.com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173736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87451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Services tiers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19456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0B981"/>
                </a:solidFill>
                <a:latin typeface="Segoe UI"/>
              </a:rPr>
              <a:t>• Wave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14015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97316"/>
                </a:solidFill>
                <a:latin typeface="Segoe UI"/>
              </a:rPr>
              <a:t>• Orange Money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633472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F4444"/>
                </a:solidFill>
                <a:latin typeface="Segoe UI"/>
              </a:rPr>
              <a:t>• Free Money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85292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0B981"/>
                </a:solidFill>
                <a:latin typeface="Segoe UI"/>
              </a:rPr>
              <a:t>• WhatsApp wa.me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961120" y="2286000"/>
            <a:ext cx="137160" cy="274320"/>
          </a:xfrm>
          <a:prstGeom prst="right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651760" y="3657600"/>
            <a:ext cx="29260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51760" y="3657600"/>
            <a:ext cx="2926080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88920" y="38404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Mode LOCAL (par défaut)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88920" y="411480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64748B"/>
                </a:solidFill>
                <a:latin typeface="Segoe UI"/>
              </a:rPr>
              <a:t>localStorage du navigateur — aucune configuration, une base par appareil (démo &amp; test)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657600"/>
            <a:ext cx="29260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3657600"/>
            <a:ext cx="292608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38404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Mode SUPABASE (réel)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11480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64748B"/>
                </a:solidFill>
                <a:latin typeface="Segoe UI"/>
              </a:rPr>
              <a:t>PostgreSQL managé + RLS par rôle — une base partagée, multi-utilisateurs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365760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0" y="3657600"/>
            <a:ext cx="256032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81160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Moteur documents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50" b="0" i="0">
                <a:solidFill>
                  <a:srgbClr val="64748B"/>
                </a:solidFill>
                <a:latin typeface="Segoe UI"/>
              </a:rPr>
              <a:t>reportlab · python-docx · openpyxl · qrcode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3977639" y="3154680"/>
            <a:ext cx="274320" cy="457200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wn Arrow 46"/>
          <p:cNvSpPr/>
          <p:nvPr/>
        </p:nvSpPr>
        <p:spPr>
          <a:xfrm>
            <a:off x="7498079" y="3154680"/>
            <a:ext cx="274320" cy="457200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5349240"/>
            <a:ext cx="11185855" cy="8686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5046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git push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57790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branche master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3200400" y="5632704"/>
            <a:ext cx="411480" cy="22860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90823" y="55046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egoe UI"/>
              </a:rPr>
              <a:t>GitHub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90823" y="57790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code source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5905423" y="5632704"/>
            <a:ext cx="411480" cy="22860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5847" y="55046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egoe UI"/>
              </a:rPr>
              <a:t>Render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5847" y="57790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build puis deploy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8610447" y="5632704"/>
            <a:ext cx="411480" cy="22860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0871" y="55046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egoe UI"/>
              </a:rPr>
              <a:t>Live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0871" y="57790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sunu-keur-web.onrender.com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Les 4 rôles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RBAC — chaque rôle, son espace et son périmètre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2590723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80160"/>
            <a:ext cx="2590723" cy="5669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08176"/>
            <a:ext cx="259072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super_admin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029968"/>
            <a:ext cx="25907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172A"/>
                </a:solidFill>
                <a:latin typeface="Segoe UI"/>
              </a:rPr>
              <a:t>Administration plateforme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87168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Vue d'ensemble des immeubles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62656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Paramètres système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38144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Comptes &amp; invitations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23360"/>
            <a:ext cx="2042083" cy="38404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96512"/>
            <a:ext cx="20420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F172A"/>
                </a:solidFill>
                <a:latin typeface="Segoe UI"/>
              </a:rPr>
              <a:t>accès 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7963" y="1280160"/>
            <a:ext cx="2590723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7963" y="1280160"/>
            <a:ext cx="2590723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7963" y="1408176"/>
            <a:ext cx="259072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gérant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7963" y="2029968"/>
            <a:ext cx="25907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172A"/>
                </a:solidFill>
                <a:latin typeface="Segoe UI"/>
              </a:rPr>
              <a:t>Le cœur du produit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6563" y="2487168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Crée immeubles &amp; appartements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96563" y="2962656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Suit loyers, encaisse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6563" y="3438144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Documents &amp; relances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42283" y="4023360"/>
            <a:ext cx="2042083" cy="38404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2283" y="4096512"/>
            <a:ext cx="20420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0B981"/>
                </a:solidFill>
                <a:latin typeface="Segoe UI"/>
              </a:rPr>
              <a:t>lecture/écriture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3007" y="1280160"/>
            <a:ext cx="2590723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3007" y="1280160"/>
            <a:ext cx="2590723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3007" y="1408176"/>
            <a:ext cx="259072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propriétaire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2029968"/>
            <a:ext cx="25907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172A"/>
                </a:solidFill>
                <a:latin typeface="Segoe UI"/>
              </a:rPr>
              <a:t>Diaspora — informer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487168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Voit ses immeubles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2962656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Rapports &amp; quittances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3438144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Aucune modification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07327" y="4023360"/>
            <a:ext cx="2042083" cy="38404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07327" y="4096512"/>
            <a:ext cx="20420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59E0B"/>
                </a:solidFill>
                <a:latin typeface="Segoe UI"/>
              </a:rPr>
              <a:t>lecture seule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8051" y="1280160"/>
            <a:ext cx="2590723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98051" y="1280160"/>
            <a:ext cx="2590723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051" y="1408176"/>
            <a:ext cx="259072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locataire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98051" y="2029968"/>
            <a:ext cx="25907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172A"/>
                </a:solidFill>
                <a:latin typeface="Segoe UI"/>
              </a:rPr>
              <a:t>Son loyer, simplement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651" y="2487168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Voit son loyer &amp; historique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651" y="2962656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Paie en mobile money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651" y="3438144"/>
            <a:ext cx="22249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• Reçus PDF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72371" y="4023360"/>
            <a:ext cx="2042083" cy="38404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72371" y="4096512"/>
            <a:ext cx="20420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97316"/>
                </a:solidFill>
                <a:latin typeface="Segoe UI"/>
              </a:rPr>
              <a:t>périmètre perso.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Georgia"/>
              </a:rPr>
              <a:t>Grille de permissions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230368"/>
            <a:ext cx="11185855" cy="310896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285232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Action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5285232"/>
            <a:ext cx="16077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59E0B"/>
                </a:solidFill>
                <a:latin typeface="Segoe UI"/>
              </a:rPr>
              <a:t>super_admin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65543" y="5285232"/>
            <a:ext cx="16077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59E0B"/>
                </a:solidFill>
                <a:latin typeface="Segoe UI"/>
              </a:rPr>
              <a:t>gérant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73287" y="5285232"/>
            <a:ext cx="16077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59E0B"/>
                </a:solidFill>
                <a:latin typeface="Segoe UI"/>
              </a:rPr>
              <a:t>propriétaire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1031" y="5285232"/>
            <a:ext cx="16077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59E0B"/>
                </a:solidFill>
                <a:latin typeface="Segoe UI"/>
              </a:rPr>
              <a:t>locataire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541264"/>
            <a:ext cx="11185855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5577840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F172A"/>
                </a:solidFill>
                <a:latin typeface="Segoe UI"/>
              </a:rPr>
              <a:t>Créer / modifier immeubles &amp; appartements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5577840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65543" y="5577840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0B981"/>
                </a:solidFill>
                <a:latin typeface="Segoe UI"/>
              </a:rPr>
              <a:t>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73287" y="5577840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81031" y="5577840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5833872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F172A"/>
                </a:solidFill>
                <a:latin typeface="Segoe UI"/>
              </a:rPr>
              <a:t>Enregistrer un loyer ou un paiement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57800" y="5833872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65543" y="5833872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0B981"/>
                </a:solidFill>
                <a:latin typeface="Segoe U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73287" y="5833872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81031" y="5833872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F97316"/>
                </a:solidFill>
                <a:latin typeface="Segoe UI"/>
              </a:rPr>
              <a:t>son loyer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6053328"/>
            <a:ext cx="11185855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089904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F172A"/>
                </a:solidFill>
                <a:latin typeface="Segoe UI"/>
              </a:rPr>
              <a:t>Générer facture / quittance / rapport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57800" y="6089904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65543" y="6089904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0B981"/>
                </a:solidFill>
                <a:latin typeface="Segoe UI"/>
              </a:rPr>
              <a:t>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73287" y="6089904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F97316"/>
                </a:solidFill>
                <a:latin typeface="Segoe UI"/>
              </a:rPr>
              <a:t>consulter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81031" y="6089904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F97316"/>
                </a:solidFill>
                <a:latin typeface="Segoe UI"/>
              </a:rPr>
              <a:t>reçus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" y="634593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F172A"/>
                </a:solidFill>
                <a:latin typeface="Segoe UI"/>
              </a:rPr>
              <a:t>Envoyer une relance WhatsApp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57800" y="6345936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65543" y="6345936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0B981"/>
                </a:solidFill>
                <a:latin typeface="Segoe UI"/>
              </a:rPr>
              <a:t>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73287" y="6345936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81031" y="6345936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6565392"/>
            <a:ext cx="11185855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601968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F172A"/>
                </a:solidFill>
                <a:latin typeface="Segoe UI"/>
              </a:rPr>
              <a:t>Consulter les tableaux de bord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57800" y="6601968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0B981"/>
                </a:solidFill>
                <a:latin typeface="Segoe UI"/>
              </a:rPr>
              <a:t>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65543" y="6601968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0B981"/>
                </a:solidFill>
                <a:latin typeface="Segoe UI"/>
              </a:rPr>
              <a:t>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73287" y="6601968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F97316"/>
                </a:solidFill>
                <a:latin typeface="Segoe UI"/>
              </a:rPr>
              <a:t>ses immeubles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81031" y="6601968"/>
            <a:ext cx="16077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F97316"/>
                </a:solidFill>
                <a:latin typeface="Segoe UI"/>
              </a:rPr>
              <a:t>son compte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Parcours du gérant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de l'inscription au loyer encaissé — une dizaine de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04</a:t>
            </a:r>
          </a:p>
        </p:txBody>
      </p:sp>
      <p:sp>
        <p:nvSpPr>
          <p:cNvPr id="10" name="Chevron 9"/>
          <p:cNvSpPr/>
          <p:nvPr/>
        </p:nvSpPr>
        <p:spPr>
          <a:xfrm>
            <a:off x="502920" y="1371600"/>
            <a:ext cx="1772869" cy="1234440"/>
          </a:xfrm>
          <a:prstGeom prst="chevron">
            <a:avLst>
              <a:gd name="adj" fmla="val 2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463040"/>
            <a:ext cx="122422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1773936"/>
            <a:ext cx="12242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Inscription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048256"/>
            <a:ext cx="12242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email, mot de passe</a:t>
            </a:r>
          </a:p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et rôle choisi</a:t>
            </a:r>
          </a:p>
        </p:txBody>
      </p:sp>
      <p:sp>
        <p:nvSpPr>
          <p:cNvPr id="14" name="Chevron 13"/>
          <p:cNvSpPr/>
          <p:nvPr/>
        </p:nvSpPr>
        <p:spPr>
          <a:xfrm>
            <a:off x="2385517" y="1371600"/>
            <a:ext cx="1772869" cy="1234440"/>
          </a:xfrm>
          <a:prstGeom prst="chevron">
            <a:avLst>
              <a:gd name="adj" fmla="val 2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41549" y="1463040"/>
            <a:ext cx="122422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1549" y="1773936"/>
            <a:ext cx="12242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Onboarding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1549" y="2048256"/>
            <a:ext cx="12242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agence + immeuble</a:t>
            </a:r>
          </a:p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+ appartements</a:t>
            </a:r>
          </a:p>
        </p:txBody>
      </p:sp>
      <p:sp>
        <p:nvSpPr>
          <p:cNvPr id="18" name="Chevron 17"/>
          <p:cNvSpPr/>
          <p:nvPr/>
        </p:nvSpPr>
        <p:spPr>
          <a:xfrm>
            <a:off x="4268114" y="1371600"/>
            <a:ext cx="1772869" cy="1234440"/>
          </a:xfrm>
          <a:prstGeom prst="chevron">
            <a:avLst>
              <a:gd name="adj" fmla="val 2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4146" y="1463040"/>
            <a:ext cx="122422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4146" y="1773936"/>
            <a:ext cx="12242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Locataires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146" y="2048256"/>
            <a:ext cx="12242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fiche, téléphone,</a:t>
            </a:r>
          </a:p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CNI, contrat</a:t>
            </a:r>
          </a:p>
        </p:txBody>
      </p:sp>
      <p:sp>
        <p:nvSpPr>
          <p:cNvPr id="22" name="Chevron 21"/>
          <p:cNvSpPr/>
          <p:nvPr/>
        </p:nvSpPr>
        <p:spPr>
          <a:xfrm>
            <a:off x="6150711" y="1371600"/>
            <a:ext cx="1772869" cy="1234440"/>
          </a:xfrm>
          <a:prstGeom prst="chevron">
            <a:avLst>
              <a:gd name="adj" fmla="val 2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6743" y="1463040"/>
            <a:ext cx="122422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1773936"/>
            <a:ext cx="12242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Loyers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2048256"/>
            <a:ext cx="12242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suivi 12 mois,</a:t>
            </a:r>
          </a:p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échéances, statuts</a:t>
            </a:r>
          </a:p>
        </p:txBody>
      </p:sp>
      <p:sp>
        <p:nvSpPr>
          <p:cNvPr id="26" name="Chevron 25"/>
          <p:cNvSpPr/>
          <p:nvPr/>
        </p:nvSpPr>
        <p:spPr>
          <a:xfrm>
            <a:off x="8033308" y="1371600"/>
            <a:ext cx="1772869" cy="1234440"/>
          </a:xfrm>
          <a:prstGeom prst="chevron">
            <a:avLst>
              <a:gd name="adj" fmla="val 28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9340" y="1463040"/>
            <a:ext cx="122422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9340" y="1773936"/>
            <a:ext cx="12242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Encaissement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9340" y="2048256"/>
            <a:ext cx="12242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Wave / OM / espèces,</a:t>
            </a:r>
          </a:p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mise à jour directe</a:t>
            </a:r>
          </a:p>
        </p:txBody>
      </p:sp>
      <p:sp>
        <p:nvSpPr>
          <p:cNvPr id="30" name="Chevron 29"/>
          <p:cNvSpPr/>
          <p:nvPr/>
        </p:nvSpPr>
        <p:spPr>
          <a:xfrm>
            <a:off x="9915905" y="1371600"/>
            <a:ext cx="1772869" cy="1234440"/>
          </a:xfrm>
          <a:prstGeom prst="chevron">
            <a:avLst>
              <a:gd name="adj" fmla="val 28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71937" y="1463040"/>
            <a:ext cx="122422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1937" y="1773936"/>
            <a:ext cx="12242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Documents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71937" y="2048256"/>
            <a:ext cx="12242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quittances PDF,</a:t>
            </a:r>
          </a:p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F8FAFC"/>
                </a:solidFill>
                <a:latin typeface="Segoe UI"/>
              </a:rPr>
              <a:t>rapports au proprio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063240"/>
            <a:ext cx="550148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063240"/>
            <a:ext cx="73152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191256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Tableau de bord vivant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3483864"/>
            <a:ext cx="50442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Encaissé du mois, montant en retard, taux de recouvrement et taux d'occupation — recalculés à chaque connexion.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87287" y="3063240"/>
            <a:ext cx="550148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7287" y="306324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61607" y="3191256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Rappels d'échéance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3483864"/>
            <a:ext cx="50442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Les loyers non réglés remontent dans « Paiements à encaisser », avec nom et téléphone du locataire.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297680"/>
            <a:ext cx="550148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4297680"/>
            <a:ext cx="73152" cy="10515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425696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Journal d'activité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718304"/>
            <a:ext cx="50442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Chaque création, paiement ou modification laisse une trace horodatée, consultable par le gérant.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7287" y="4297680"/>
            <a:ext cx="550148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7287" y="4297680"/>
            <a:ext cx="73152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1607" y="4425696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Chiffres justes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1607" y="4718304"/>
            <a:ext cx="50442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Montants proratisés sur les jours du mois en cours : le chiffre est exact dès le premier jour du mois.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Tableau de bord &amp; loyers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captures réelles de l'application en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19" y="1234439"/>
            <a:ext cx="5669282" cy="41144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669280" cy="41144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403718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Tableau de bord — encaissé, retards, occupation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79" y="1234439"/>
            <a:ext cx="5303522" cy="384897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6-lo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8489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138272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Loyers — mois en cours, encaissé, reste à recouvrer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623560"/>
            <a:ext cx="111858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74243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172A"/>
                </a:solidFill>
                <a:latin typeface="Segoe UI"/>
              </a:rPr>
              <a:t>Lecture en couleur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167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0B981"/>
                </a:solidFill>
                <a:latin typeface="Segoe UI"/>
              </a:rPr>
              <a:t>■ vert = encaissé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60167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97316"/>
                </a:solidFill>
                <a:latin typeface="Segoe UI"/>
              </a:rPr>
              <a:t>■ orange = à recouvrer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60167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4444"/>
                </a:solidFill>
                <a:latin typeface="Segoe UI"/>
              </a:rPr>
              <a:t>■ rouge = retard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60167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F172A"/>
                </a:solidFill>
                <a:latin typeface="Segoe UI"/>
              </a:rPr>
              <a:t>■ badges = tendance vs mois dernier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Locataires &amp;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fiches, factures, quittances — captures réelles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19" y="1234439"/>
            <a:ext cx="5669282" cy="4042653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7-locata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669280" cy="40426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331955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Locataires — fiches, loyer mensuel, 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79" y="1234439"/>
            <a:ext cx="5303522" cy="384897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-factu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8489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138272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Facturation — facture, devis, quittances, rapports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623560"/>
            <a:ext cx="111858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74243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172A"/>
                </a:solidFill>
                <a:latin typeface="Segoe UI"/>
              </a:rPr>
              <a:t>Le saviez-vous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16752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La page Facturation affiche en vert l'URL du backend contacté · numérotation automatique non modifiable (SK-F-2026-001) · QR Code intégré aux quittances.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Documents officiels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du clic au PDF — tout est généré par le backend 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2419273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419273" cy="91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54480"/>
            <a:ext cx="241927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0240"/>
            <a:ext cx="205351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choix du type, du montant,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de l'immeuble, du locataire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95345" y="1874519"/>
            <a:ext cx="365760" cy="32004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325880"/>
            <a:ext cx="2419273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5113" y="1325880"/>
            <a:ext cx="2419273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5113" y="1554480"/>
            <a:ext cx="241927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API FastAPI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7993" y="1920240"/>
            <a:ext cx="205351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POST /api/generate/*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validation · calculs · numérotation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17539" y="1874519"/>
            <a:ext cx="365760" cy="32004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47307" y="1325880"/>
            <a:ext cx="2419273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47307" y="1325880"/>
            <a:ext cx="2419273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7307" y="1554480"/>
            <a:ext cx="241927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Moteur Python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0187" y="1920240"/>
            <a:ext cx="205351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reportlab (PDF) · python-docx (Word)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openpyxl (Excel) · qrcode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39733" y="1874519"/>
            <a:ext cx="365760" cy="32004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69501" y="1325880"/>
            <a:ext cx="2419273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69501" y="1325880"/>
            <a:ext cx="2419273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69501" y="1554480"/>
            <a:ext cx="241927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Fichier prêt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52381" y="1920240"/>
            <a:ext cx="205351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téléchargé immédiatement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ou accessible par lien signé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06324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Georgia"/>
              </a:rPr>
              <a:t>Catalogue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520440"/>
            <a:ext cx="2625013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259253" y="3611880"/>
            <a:ext cx="749808" cy="256032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9253" y="3639312"/>
            <a:ext cx="749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PDF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639312"/>
            <a:ext cx="16191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Facture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941064"/>
            <a:ext cx="23506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numérotation auto, mentions légales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56533" y="3520440"/>
            <a:ext cx="2625013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12867" y="3611880"/>
            <a:ext cx="749808" cy="256032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12867" y="3639312"/>
            <a:ext cx="749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PDF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3693" y="3639312"/>
            <a:ext cx="16191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Devis de travaux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693" y="3941064"/>
            <a:ext cx="23506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postes de dépense, total, validité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0147" y="3520440"/>
            <a:ext cx="2625013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966481" y="3611880"/>
            <a:ext cx="749808" cy="25603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6481" y="3639312"/>
            <a:ext cx="749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PDF + QR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7307" y="3639312"/>
            <a:ext cx="16191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Quittance de loyer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7307" y="3941064"/>
            <a:ext cx="23506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mois, montant en toutes lettres, QR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63761" y="3520440"/>
            <a:ext cx="2625013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820095" y="3611880"/>
            <a:ext cx="749808" cy="25603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20095" y="3639312"/>
            <a:ext cx="749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PDF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00921" y="3639312"/>
            <a:ext cx="16191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Reçu de paiement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00921" y="3941064"/>
            <a:ext cx="23506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horodaté, méthode de paiement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480560"/>
            <a:ext cx="2625013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259253" y="4572000"/>
            <a:ext cx="749808" cy="256032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59253" y="4599432"/>
            <a:ext cx="749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PDF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599432"/>
            <a:ext cx="16191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Rapport mensuel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901184"/>
            <a:ext cx="23506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synthèse par immeuble — diaspora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56533" y="4480560"/>
            <a:ext cx="2625013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112867" y="4572000"/>
            <a:ext cx="749808" cy="256032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12867" y="4599432"/>
            <a:ext cx="749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Word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93693" y="4599432"/>
            <a:ext cx="16191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Rapport détaillé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93693" y="4901184"/>
            <a:ext cx="23506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modifiable, pour courrier &amp; archive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0147" y="4480560"/>
            <a:ext cx="2625013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966481" y="4572000"/>
            <a:ext cx="749808" cy="25603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66481" y="4599432"/>
            <a:ext cx="749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Excel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47307" y="4599432"/>
            <a:ext cx="161917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Export comptable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47307" y="4901184"/>
            <a:ext cx="23506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lignes brutes de la période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577840"/>
            <a:ext cx="11185855" cy="960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5705856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59E0B"/>
                </a:solidFill>
                <a:latin typeface="Segoe UI"/>
              </a:rPr>
              <a:t>Pourquoi pas de JavaScript côté client 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598932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Générer un PDF dans le navigateur impose une bibliothèque lourde et un rendu variable. Ici, c'est Python (reportlab) qui imprime : même mise en page partout, QR Code et montant en toutes lettres.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Paiements mobile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Wave · Orange Money · Free Money — et les espèces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2032345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80160"/>
            <a:ext cx="2032345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203234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Locataire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55648"/>
            <a:ext cx="1849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depuis son portail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53553" y="1627632"/>
            <a:ext cx="219456" cy="274320"/>
          </a:xfrm>
          <a:prstGeom prst="right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91297" y="1280160"/>
            <a:ext cx="2032345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1297" y="1280160"/>
            <a:ext cx="203234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1297" y="1463040"/>
            <a:ext cx="203234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Moyen choisi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2737" y="1755648"/>
            <a:ext cx="1849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Wave · OM · Free · espèces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841930" y="1627632"/>
            <a:ext cx="219456" cy="274320"/>
          </a:xfrm>
          <a:prstGeom prst="right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79674" y="1280160"/>
            <a:ext cx="2032345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79674" y="1280160"/>
            <a:ext cx="2032345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9674" y="1463040"/>
            <a:ext cx="203234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71114" y="1755648"/>
            <a:ext cx="1849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ordre de paiement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30308" y="1627632"/>
            <a:ext cx="219456" cy="274320"/>
          </a:xfrm>
          <a:prstGeom prst="right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8052" y="1280160"/>
            <a:ext cx="2032345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8052" y="1280160"/>
            <a:ext cx="2032345" cy="8229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8052" y="1463040"/>
            <a:ext cx="203234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Confirmation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9492" y="1755648"/>
            <a:ext cx="1849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webhook ou vérification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18685" y="1627632"/>
            <a:ext cx="219456" cy="274320"/>
          </a:xfrm>
          <a:prstGeom prst="right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56429" y="1280160"/>
            <a:ext cx="2032345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56429" y="1280160"/>
            <a:ext cx="203234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6429" y="1463040"/>
            <a:ext cx="203234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Quittance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869" y="1755648"/>
            <a:ext cx="1849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loyer à jour + PDF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2651760"/>
            <a:ext cx="354573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2761488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payé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035808"/>
            <a:ext cx="317997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748B"/>
                </a:solidFill>
                <a:latin typeface="Consolas"/>
              </a:rPr>
              <a:t>montant_paye = montant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291840"/>
            <a:ext cx="317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0F172A"/>
                </a:solidFill>
                <a:latin typeface="Segoe UI"/>
              </a:rPr>
              <a:t>quittance émise, plus rien à réclamer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1538" y="2651760"/>
            <a:ext cx="354573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14418" y="2761488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egoe UI"/>
              </a:rPr>
              <a:t>partiel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14418" y="3035808"/>
            <a:ext cx="317997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748B"/>
                </a:solidFill>
                <a:latin typeface="Consolas"/>
              </a:rPr>
              <a:t>0 &lt; payé &lt; montant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14418" y="3291840"/>
            <a:ext cx="317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0F172A"/>
                </a:solidFill>
                <a:latin typeface="Segoe UI"/>
              </a:rPr>
              <a:t>solde restant affiché en orange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0156" y="2651760"/>
            <a:ext cx="3545738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43036" y="2761488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F4444"/>
                </a:solidFill>
                <a:latin typeface="Segoe UI"/>
              </a:rPr>
              <a:t>impayé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3036" y="3035808"/>
            <a:ext cx="317997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748B"/>
                </a:solidFill>
                <a:latin typeface="Consolas"/>
              </a:rPr>
              <a:t>échéance passée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3036" y="3291840"/>
            <a:ext cx="317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0F172A"/>
                </a:solidFill>
                <a:latin typeface="Segoe UI"/>
              </a:rPr>
              <a:t>dans la file de relance WhatsApp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3977639"/>
            <a:ext cx="4754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11480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Relance WhatsApp en un clic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443484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Message poli et personnalisé, ouvert dans WhatsApp (wa.me) avec le numéro pré-rempli : « Bonjour Aminata, votre loyer de 250 000 F arrive à échéance… »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1520" y="4983480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2005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wa.me/221…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39" y="3977638"/>
            <a:ext cx="3108962" cy="2216939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10-pai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3977639"/>
            <a:ext cx="3108960" cy="221693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577840" y="624944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Paiements — encaissé, en attente, impayés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977639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98280" y="4114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Segoe UI"/>
              </a:rPr>
              <a:t>Aucun doublon possible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8280" y="4434840"/>
            <a:ext cx="2377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Un paiement confirmé met le loyer à jour ET édite la quittance dans la même opération ; les statuts payé / partiel / impayé sont calculés, jamais saisis.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Finances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charges communes réparties · chantiers suivis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19" y="1234439"/>
            <a:ext cx="5760722" cy="4180777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9-fin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760720" cy="41807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470079"/>
            <a:ext cx="5760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Finances — charges communes, éligibles, travaux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280160"/>
            <a:ext cx="5059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Georgia"/>
              </a:rPr>
              <a:t>Principe de répartition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1691640"/>
            <a:ext cx="5059375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810512"/>
            <a:ext cx="5059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Facture commune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84831"/>
            <a:ext cx="5059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électricité du couloir — 48 000 F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031071" y="2468880"/>
            <a:ext cx="256032" cy="365760"/>
          </a:xfrm>
          <a:prstGeom prst="down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29400" y="2926080"/>
            <a:ext cx="5059375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999232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0B981"/>
                </a:solidFill>
                <a:latin typeface="Segoe UI"/>
              </a:rPr>
              <a:t>occupé → 16 000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9400" y="3429000"/>
            <a:ext cx="5059375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3502152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0B981"/>
                </a:solidFill>
                <a:latin typeface="Segoe UI"/>
              </a:rPr>
              <a:t>occupé → 16 000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3931920"/>
            <a:ext cx="5059375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4005072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0B981"/>
                </a:solidFill>
                <a:latin typeface="Segoe UI"/>
              </a:rPr>
              <a:t>occupé → 16 000 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4434840"/>
            <a:ext cx="5059375" cy="411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07992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4748B"/>
                </a:solidFill>
                <a:latin typeface="Segoe UI"/>
              </a:rPr>
              <a:t>vacant → 0 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074920"/>
            <a:ext cx="5059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Seuls les appartements OCCUPÉS participent. Une photo du compteur peut justifier la facture.</a:t>
            </a:r>
          </a:p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/>
            </a:r>
          </a:p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Travaux : kanban à faire → en cours → terminé, avec coût et dates.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06440"/>
            <a:ext cx="11185855" cy="7315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89788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59E0B"/>
                </a:solidFill>
                <a:latin typeface="Georgia"/>
              </a:rPr>
              <a:t>46 538 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989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charges communes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89788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0B981"/>
                </a:solidFill>
                <a:latin typeface="Georgia"/>
              </a:rPr>
              <a:t>3 /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989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appartements éligibles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89788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97316"/>
                </a:solidFill>
                <a:latin typeface="Georgia"/>
              </a:rPr>
              <a:t>189 061 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5989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travaux suivis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Tarification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un prix clair, aucune commission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19" y="1280159"/>
            <a:ext cx="5669282" cy="41144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4-tari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5669280" cy="41144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449438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Page tarifs — la formule unique, sans surprise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1280160"/>
            <a:ext cx="4739335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554480"/>
            <a:ext cx="4739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0F172A"/>
                </a:solidFill>
                <a:latin typeface="Georgia"/>
              </a:rPr>
              <a:t>10 000 F CFA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057400"/>
            <a:ext cx="47393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Segoe UI"/>
              </a:rPr>
              <a:t>par mois · par immeuble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3267" y="2468880"/>
            <a:ext cx="2011680" cy="41148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2542032"/>
            <a:ext cx="47393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0 % DE COMMISSION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154680"/>
            <a:ext cx="4099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✓  Aucun prélèvement sur les loyers encaissés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538728"/>
            <a:ext cx="4099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✓  Appartements et locataires illimités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922776"/>
            <a:ext cx="4099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✓  Relances WhatsApp + quittances PDF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06824"/>
            <a:ext cx="4099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✓  Portail propriétaire et rapports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690872"/>
            <a:ext cx="4099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✓  Changement de formule à tout moment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806440"/>
            <a:ext cx="11185855" cy="7315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9253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Segoe UI"/>
              </a:rPr>
              <a:t>Le positionnement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9963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Moins cher qu'un cahier retrouvé, qu'une heure perdue en relance ou qu'un impayé découvert trois mois plus tard.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"/>
            <a:ext cx="438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Georgia"/>
              </a:rPr>
              <a:t>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432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Sécurité &amp; déploiement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BD5E1"/>
                </a:solidFill>
                <a:latin typeface="Segoe UI"/>
              </a:rPr>
              <a:t>ce qui protège les données, et comment tout est mis en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329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Georgia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45576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80160"/>
            <a:ext cx="73152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408176"/>
            <a:ext cx="4998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Rôles verrouillés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700784"/>
            <a:ext cx="49985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Le middleware bloque toute route protégée sans session valide ; chaque page recalcule les droits de l'utilisateur.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280160"/>
            <a:ext cx="545576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28016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7327" y="1408176"/>
            <a:ext cx="4998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Données cloisonnées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1700784"/>
            <a:ext cx="49985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Mode Supabase : Row Level Security activée sur les 12 tables, politiques distinctes par rôle.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514600"/>
            <a:ext cx="545576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514600"/>
            <a:ext cx="73152" cy="10515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642616"/>
            <a:ext cx="4998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Documents privés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935224"/>
            <a:ext cx="49985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CNI, contrats et logos dans un bucket privé ; accès par lien signé à durée limitée.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2514600"/>
            <a:ext cx="5455767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2514600"/>
            <a:ext cx="73152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2642616"/>
            <a:ext cx="4998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Identité protégée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7327" y="2935224"/>
            <a:ext cx="49985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Mots de passe hachés et salés ; en mode réel, authentification gérée par Supabase Auth.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977639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Georgia"/>
              </a:rPr>
              <a:t>Déploiement continu — GitHub + Render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434840"/>
            <a:ext cx="2476423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553712"/>
            <a:ext cx="2110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git push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28032"/>
            <a:ext cx="2110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Segoe UI"/>
              </a:rPr>
              <a:t>branche master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25063" y="4754880"/>
            <a:ext cx="228600" cy="27432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99383" y="4434840"/>
            <a:ext cx="2476423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82263" y="4553712"/>
            <a:ext cx="2110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egoe UI"/>
              </a:rPr>
              <a:t>GitHub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82263" y="4828032"/>
            <a:ext cx="2110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Segoe UI"/>
              </a:rPr>
              <a:t>code source (public)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821527" y="4754880"/>
            <a:ext cx="228600" cy="27432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95847" y="4434840"/>
            <a:ext cx="2476423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78727" y="4553712"/>
            <a:ext cx="2110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egoe UI"/>
              </a:rPr>
              <a:t>Render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8727" y="4828032"/>
            <a:ext cx="2110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Segoe UI"/>
              </a:rPr>
              <a:t>2 services : API Python + Web Node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617991" y="4754880"/>
            <a:ext cx="228600" cy="27432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892311" y="4434840"/>
            <a:ext cx="2476423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75191" y="4553712"/>
            <a:ext cx="2110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egoe UI"/>
              </a:rPr>
              <a:t>Live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75191" y="4828032"/>
            <a:ext cx="2110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50" b="0" i="0">
                <a:solidFill>
                  <a:srgbClr val="10B981"/>
                </a:solidFill>
                <a:latin typeface="Segoe UI"/>
              </a:rPr>
              <a:t>sunu-keur-web.onrender.com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669280"/>
            <a:ext cx="11185855" cy="8686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77900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Segoe UI"/>
              </a:rPr>
              <a:t>À savoir sur le plan gratuit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053328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64748B"/>
                </a:solidFill>
                <a:latin typeface="Segoe UI"/>
              </a:rPr>
              <a:t>Veille après ~15 min d'inactivité (1er chargement ≈ 50 s) · disque éphémère : les documents sont regénérés à la demande · NEXT_PUBLIC_* figées au build, d'où un redeploy après changement d'environnement.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Merci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6060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1">
                <a:solidFill>
                  <a:srgbClr val="F59E0B"/>
                </a:solidFill>
                <a:latin typeface="Georgia"/>
              </a:rPr>
              <a:t>« Fini le cahier. Tes loyers en un coup d'œil.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04007" y="338328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143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356616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APPLICATION EN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8862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https://sunu-keur-web.onrender.com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187952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https://sunu-keur-api.onrender.com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48056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CBD5E1"/>
                </a:solidFill>
                <a:latin typeface="Segoe UI"/>
              </a:rPr>
              <a:t>prochaine étape : brancher Supabase pour du multi-utilisateurs réel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39496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Sunu Keur · Gestion locative · Sénégal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